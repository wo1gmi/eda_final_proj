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Резюме в одном предложении: связь между ставкой и курсом статистически значима на полной выборке, но целиком объясняется семью кризисными месяцами из 156 — при их нейтрализации значимость исчезает.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Если спросят про VECM: мы его не выбросили, а прогнали параллельно (T4) — результат тот же качественно.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Обратить внимание на два эпизода, которые видны на всех трёх графиках одновременно: конец 2014 — начало 2015 (нефть падает, ставка и курс резко растут) и февраль-март 2022 (экстренное повышение ставки, пик курса). Это и есть те самые 7 месяцев, которые определяют весь результат — см. слайд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Ключевая методическая правка: одна общая дамми на весь кризисный период не гасит эффект выброса, потому что тот же выброс входит в VAR ещё и как лаг на t+1, t+2. Дамми нужно ставить по одному наблюдению. После этого исправления значимость на полной выборке действительно исчезает при нейтрализации обоих кризисов (p=0.74), что и есть прямое, а не косвенное доказательство главного тезиса.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Размер эффекта отдельно от значимости: сумма коэффициентов при двух лагах ставки в уравнении курса — 0.0005, 95% ДИ от -0.008 до 0.009, включает ноль.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Для вложенной пары VAR-без-ставки/VAR-со-ставкой классический тест Диболда-Мариано формально смещён (лишние параметры добавляют шум оценивания) — корректнее тест Кларка-Уэста, мы его не реализовывали, это отмечено как ограничение.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9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9601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Ставка ЦБ, курс рубля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 его волатильность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6576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Финальный проект · Анализ экономических данных · 2026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897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5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Команда: ФИО будут указаны перед сдачей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62636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5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 – 2026  ·  65 решений ЦБ  ·  связь видна только в кризис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Есть ли связь по времени между решениями ЦБ по ставке, курсом рубля</a:t>
            </a:r>
            <a:endParaRPr lang="en-US" sz="2200" dirty="0"/>
          </a:p>
          <a:p>
            <a:pPr indent="0" marL="0">
              <a:buNone/>
            </a:pPr>
            <a:r>
              <a:rPr lang="en-US" sz="22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 его волатильностью, и в каком направлении идёт предсказуемость?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17520"/>
            <a:ext cx="6949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Денежный, макроэкономический вопрос: ставка — инструмент политики, курс — цена, напрямую влияющая на импорт, инфляцию, сбережения.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Дизайн предсказательный (VAR, Грейнджер, IRF, GARCH), не причинный — намеренно: нет рандомизации ставки, вопрос про предсказуемость, а не про эффект.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«Влияет» и «предсказывает» — разные слова, и мы различаем их до конца презентации, не только на этом слайде.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955280" y="30175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4,25 – 21%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955280" y="36576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диапазон ключевой ставки, 2013–2026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955280" y="45720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521208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решений ЦБ по ставке за 13 лет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Данные: три открытых источника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383280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53619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Ключевая ставка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956816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cbr.ru, HTML-таблица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231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B7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3264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9718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наблюдений · 17.09.2013 – 23.09.2026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297680" y="1371600"/>
            <a:ext cx="3383280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26280" y="153619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Курс USD/RUB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1956816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cbr.ru, XML (официальный фиксинг)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26280" y="24231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B7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3385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9718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наблюдений · 10.01.2013 – 23.09.2026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046720" y="1371600"/>
            <a:ext cx="3383280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75320" y="153619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Нефть Brent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75320" y="1956816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FRED, DCOILBRENTEU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275320" y="24231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B7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3581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8275320" y="29718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наблюдений · 01.01.2013 – 22.09.2026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794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Ставка — ступенчатая функция: 3264 дневных значения, но всего </a:t>
            </a:r>
            <a:pPr indent="0" marL="0"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фактических изменений</a:t>
            </a:r>
            <a:pPr indent="0" marL="0">
              <a:buNone/>
            </a:pPr>
            <a:r>
              <a:rPr lang="en-US" sz="13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(~5 в год). Курс и ставка обязательно моделируются вместе с нефтью — иначе эффект ставки путается с сырьевым циклом.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5262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данных: </a:t>
            </a:r>
            <a:pPr indent="0" marL="0">
              <a:buNone/>
            </a:pPr>
            <a:r>
              <a:rPr lang="en-US" sz="12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даты решений и даты курса в выгрузках ЦБ используют разные конвенции (курс датирован T+1 от торговой сессии). Прямое сравнение совпадало в 5 случаях из 65; после сдвига на 1 день — в 65 из 65. Проверка встроена в код: скрипт падает, если совпадений не 65.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5778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структурных слома видны прямо в данных: экстренное повышение ставки до 20% 28.02.2022 (пик курса 120,4 ₽/$ 11.03.2022) и цикл ужесточения 2023–2024 до исторического максимума 21%.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Методы: два слоя, спецификация выбрана данными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94960" cy="3931920"/>
          </a:xfrm>
          <a:prstGeom prst="roundRect">
            <a:avLst>
              <a:gd name="adj" fmla="val 1860"/>
            </a:avLst>
          </a:prstGeom>
          <a:solidFill>
            <a:srgbClr val="F3F5F8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1737360"/>
            <a:ext cx="228600" cy="228600"/>
          </a:xfrm>
          <a:prstGeom prst="roundRect">
            <a:avLst/>
          </a:prstGeom>
          <a:solidFill>
            <a:srgbClr val="13294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280160" y="16459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Месячные данные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28600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 в первых разностях (лаг по BIC/AIC/HQIC/FPE: p=3)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 на коинтеграцию: ранг неустойчив к лагу (1 при kd=1, 0 при kd=2/3) — берём VAR-в-разностях, VECM как помеченная альтернатива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 Грейнджера, импульсные отклики (IRF)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0" y="1417320"/>
            <a:ext cx="5394960" cy="3931920"/>
          </a:xfrm>
          <a:prstGeom prst="roundRect">
            <a:avLst>
              <a:gd name="adj" fmla="val 1860"/>
            </a:avLst>
          </a:prstGeom>
          <a:solidFill>
            <a:srgbClr val="F3F5F8"/>
          </a:solidFill>
          <a:ln/>
        </p:spPr>
      </p:sp>
      <p:sp>
        <p:nvSpPr>
          <p:cNvPr id="8" name="Shape 6"/>
          <p:cNvSpPr/>
          <p:nvPr/>
        </p:nvSpPr>
        <p:spPr>
          <a:xfrm>
            <a:off x="6537960" y="1737360"/>
            <a:ext cx="228600" cy="228600"/>
          </a:xfrm>
          <a:prstGeom prst="roundRect">
            <a:avLst/>
          </a:prstGeom>
          <a:solidFill>
            <a:srgbClr val="5B7FA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949440" y="16459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Дневные данные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228600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GARCH: спецификация выбрана по AIC/BIC среди 4 кандидатов (Normal/t × const/AR(1) × GJR)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Выбрана: t-распределение, AR(1)-среднее, GJR-асимметрия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Событийное исследование вокруг 65 решений, плацебо стратифицировано по году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так: произвольный выбор лага (kd=1) давал коинтеграцию на границе критического значения — при лаге, выбранном по данным, она исчезает. Исходная GARCH-спецификация (const-mean, Normal) не проходила диагностику остатков — выбранная по BIC проходит.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ряда во времени</a:t>
            </a:r>
            <a:endParaRPr lang="en-US" sz="2700" dirty="0"/>
          </a:p>
        </p:txBody>
      </p:sp>
      <p:pic>
        <p:nvPicPr>
          <p:cNvPr id="3" name="Image 0" descr="../output/figures/R1_three_ser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63824" y="1280160"/>
            <a:ext cx="5861304" cy="521208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329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108960" cy="365760"/>
          </a:xfrm>
          <a:prstGeom prst="roundRect">
            <a:avLst>
              <a:gd name="adj" fmla="val 15000"/>
            </a:avLst>
          </a:prstGeom>
          <a:solidFill>
            <a:srgbClr val="C9A22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ГЛАВНАЯ НАХОДКА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Значимость держится на семи месяцах из 156</a:t>
            </a:r>
            <a:endParaRPr lang="en-US" sz="2400" dirty="0"/>
          </a:p>
        </p:txBody>
      </p:sp>
      <p:pic>
        <p:nvPicPr>
          <p:cNvPr id="5" name="Image 0" descr="../output/figures/R4_rolling_gran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00200"/>
            <a:ext cx="6949440" cy="3474720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600200"/>
          <a:ext cx="4114800" cy="237744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Нейтрализация (дамми по наблюдению)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ставка→курс, 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Ничего (основной результат)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C7C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&lt;10⁻¹⁹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2022 (фев–апр)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2014-15 (ноя–фев)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7C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&lt;10⁻¹⁹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Оба кризиса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7589520" y="4160520"/>
            <a:ext cx="4114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Дамми ставится по одному наблюдению на каждый кризисный месяц (общая дамми на весь период эффект выброса не гасит — он ещё входит в VAR как лаг). Нужны оба кризиса: один эпизод в одиночку значимость не убирает.</a:t>
            </a:r>
            <a:endParaRPr lang="en-US" sz="11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59436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Скользящее окно: доля значимых окон падает с 60% до 2% </a:t>
            </a:r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нейтрализации кризисных месяцев в каждом окне. Провал до p≈10⁻³⁰ — эффект одного экстремального наблюдения (ставка +10,5 п.п., курс +29% в тот же месяц), не сила связи; F-тест при таком выбросе не проходит проверку на нормальность остатков.</a:t>
            </a:r>
            <a:endParaRPr lang="en-US" sz="1150" dirty="0"/>
          </a:p>
        </p:txBody>
      </p:sp>
      <p:sp>
        <p:nvSpPr>
          <p:cNvPr id="10" name="Text 5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5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Импульсный отклик: 1 п.п., накопленный эффект, бутстрап-CI</a:t>
            </a:r>
            <a:endParaRPr lang="en-US" sz="2700" dirty="0"/>
          </a:p>
        </p:txBody>
      </p:sp>
      <p:pic>
        <p:nvPicPr>
          <p:cNvPr id="3" name="Image 0" descr="../output/figures/R2_irf_rate_to_f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0" y="1188720"/>
            <a:ext cx="3931920" cy="3657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1371600"/>
            <a:ext cx="36576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Шок — ровно 1 п.п. ставки (не 1 стандартное отклонение ≈ 1,33 п.п.)</a:t>
            </a:r>
            <a:endParaRPr lang="en-US" sz="1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Пик +2,3% на 1-м месяце, разворот в минус на 2–4 месяце, гаснет к 6–7 месяцу</a:t>
            </a:r>
            <a:endParaRPr lang="en-US" sz="1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Накопленный эффект перестаёт значимо отличаться от нуля уже с 3-го месяца (95% бутстрап-CI, 500 реплик, включает ноль)</a:t>
            </a:r>
            <a:endParaRPr lang="en-US" sz="1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Устойчиво к порядку ортогонализации: при пересчёте в тех же единицах (1 п.п.) для всех трёх порядков пик 0,019–0,023, накопленный эффект на 3-м месяце близок к нулю (0,001–0,014)</a:t>
            </a:r>
            <a:endParaRPr lang="en-US" sz="1200" dirty="0"/>
          </a:p>
        </p:txBody>
      </p:sp>
      <p:sp>
        <p:nvSpPr>
          <p:cNvPr id="6" name="Text 2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GARCH: спецификация выбрана, не угадана</a:t>
            </a:r>
            <a:endParaRPr lang="en-US" sz="27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486400" cy="1828800"/>
        </p:xfrm>
        <a:graphic>
          <a:graphicData uri="http://schemas.openxmlformats.org/drawingml/2006/table">
            <a:tbl>
              <a:tblPr/>
              <a:tblGrid>
                <a:gridCol w="3291840"/>
                <a:gridCol w="1097280"/>
                <a:gridCol w="10972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Спецификация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t, AR(1)-mean, GJR (выбрана)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7C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t, AR(1)-mean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t, const-mean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Normal, const-mean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42900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Диагностика остатков (Ljung-Box), весь период: p=0,18 (уровень), p=0,45 (квадраты) — проходит. Подвыборка «после 2022»: персистентность выходит на 1,0 (интегрированный GARCH), квадраты остатков p=6·10⁻⁸ — НЕ проходит; артефакт кластера экстремальной волатильности в малой подвыборке.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6492240" y="137160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0,98 → 1,00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492240" y="20116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персистентность (α+β+γ/2): до → после 28.02.2022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492240" y="274320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5B7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1,06 → н/д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6492240" y="33832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безусловная дисперсия, %²: до 2022 — идентифицируется; после — нет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492240" y="416052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Персистентность ~1 в малой подвыборке с выбросами — не находка про «долгую память», а известный артефакт оценивания GARCH; безусловная дисперсия там математически не определена и не репортится как число.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Волатильность вокруг решений и прогноз вне выборки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5486400" cy="4297680"/>
          </a:xfrm>
          <a:prstGeom prst="roundRect">
            <a:avLst>
              <a:gd name="adj" fmla="val 1702"/>
            </a:avLst>
          </a:prstGeom>
          <a:solidFill>
            <a:srgbClr val="F3F5F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5544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Событийное исследование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057400"/>
            <a:ext cx="49377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Наивный тест (плацебо по всей выборке): p=0,000 — но 19 из 65 решений физически лежат в кризисных годах.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Плацебо стратифицировано по году + аномальная |доходность|: все события — p=0,009; без 2014/2015/2022 — p=0,457.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b="1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 кризисных лет: доходность до решения 0,568%, после — 0,570%, база — 0,569% — никакой реакции нет.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263640" y="1371600"/>
            <a:ext cx="5394960" cy="4297680"/>
          </a:xfrm>
          <a:prstGeom prst="roundRect">
            <a:avLst>
              <a:gd name="adj" fmla="val 1702"/>
            </a:avLst>
          </a:prstGeom>
          <a:solidFill>
            <a:srgbClr val="13294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37960" y="15544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вне выборки (rolling origin)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05740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Спокойные годы: наивный прогноз не хуже VAR-моделей (VAR без ставки значимо точнее VAR со ставкой, DM p=0,025).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Кризисные годы (n=12): VAR со ставкой точнее наивного (RMSE 0,127 vs 0,138) и VAR без ставки (0,191) — но по упрощённому тесту Диболда-Мариано разница не значима (p=0,09–0,73).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Честно по обоим режимам, не выбираем удобную половину результата.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 на вопрос и ограничения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212080" cy="4297680"/>
          </a:xfrm>
          <a:prstGeom prst="roundRect">
            <a:avLst>
              <a:gd name="adj" fmla="val 1702"/>
            </a:avLst>
          </a:prstGeom>
          <a:solidFill>
            <a:srgbClr val="F3F5F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0312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Факт: значимость связи целиком объясняется двумя кризисными эпизодами (7 месяцев из 156); при их нейтрализации она исчезает.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 кризисных лет — ни предсказуемости, ни повышенной волатильности вокруг решений. В кризис ставка помогает прогнозу курса, но на 12 наблюдениях это не доказано формально.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Чего данные не позволяют утверждать: направление причинности, роль инфляции и ожиданий (их нет в модели).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080760" y="1371600"/>
            <a:ext cx="5394960" cy="4297680"/>
          </a:xfrm>
          <a:prstGeom prst="roundRect">
            <a:avLst>
              <a:gd name="adj" fmla="val 1702"/>
            </a:avLst>
          </a:prstGeom>
          <a:solidFill>
            <a:srgbClr val="13294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355080" y="16002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Ограничения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355080" y="2103120"/>
            <a:ext cx="4846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Контрольная группа «заседания без изменения ставки» не построена — тест остаётся ослабленным.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Множественные проверки (лаги, подпериоды, дамми-варианты) не скорректированы на множественное тестирование.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Короткие кризисные подвыборки (n=12–55) — низкая мощность.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DM-тест для вложенных моделей формально смещён (нужен тест Кларка-Уэста); три переменные — упрощение.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29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Спасибо. Вопросы?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2004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Команда: ФИО будут указаны перед сдачей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5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Код, данные (загружаются автоматически) и инструкция — в репозитории проекта, README.md.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5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Полный прогон с нуля: ~16 секунд (лимит задания — 30 минут).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5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2026-09-24T19:37:23Z</dcterms:created>
  <dcterms:modified xsi:type="dcterms:W3CDTF">2026-09-24T19:37:23Z</dcterms:modified>
</cp:coreProperties>
</file>