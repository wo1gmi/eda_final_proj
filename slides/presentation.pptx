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fe4b2037b04992" /><Relationship Type="http://schemas.openxmlformats.org/officeDocument/2006/relationships/extended-properties" Target="/docProps/app.xml" Id="R0d82067d294841c2" /><Relationship Type="http://schemas.openxmlformats.org/officeDocument/2006/relationships/officeDocument" Target="/ppt/presentation.xml" Id="R2ed494598bdb4a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f06c186475e4d4b"/>
  </p:sldMasterIdLst>
  <p:notesMasterIdLst>
    <p:notesMasterId xmlns:r="http://schemas.openxmlformats.org/officeDocument/2006/relationships" r:id="R7200f3e8493c4afe"/>
  </p:notesMasterIdLst>
  <p:sldIdLst>
    <p:sldId xmlns:r="http://schemas.openxmlformats.org/officeDocument/2006/relationships" id="256" r:id="R8d759442ea9b4878"/>
    <p:sldId xmlns:r="http://schemas.openxmlformats.org/officeDocument/2006/relationships" id="257" r:id="R81164fe5e15446a6"/>
    <p:sldId xmlns:r="http://schemas.openxmlformats.org/officeDocument/2006/relationships" id="258" r:id="Rf792acc2f8684519"/>
    <p:sldId xmlns:r="http://schemas.openxmlformats.org/officeDocument/2006/relationships" id="259" r:id="Rc46df5bdc2e34c09"/>
    <p:sldId xmlns:r="http://schemas.openxmlformats.org/officeDocument/2006/relationships" id="260" r:id="R41cc1afcfdf94372"/>
    <p:sldId xmlns:r="http://schemas.openxmlformats.org/officeDocument/2006/relationships" id="261" r:id="R0cdac589fbb648f4"/>
    <p:sldId xmlns:r="http://schemas.openxmlformats.org/officeDocument/2006/relationships" id="262" r:id="Rd11e5baeb0fa4060"/>
    <p:sldId xmlns:r="http://schemas.openxmlformats.org/officeDocument/2006/relationships" id="263" r:id="Rceb55c731ca741d7"/>
    <p:sldId xmlns:r="http://schemas.openxmlformats.org/officeDocument/2006/relationships" id="264" r:id="R69d86c53cd2a4d26"/>
    <p:sldId xmlns:r="http://schemas.openxmlformats.org/officeDocument/2006/relationships" id="265" r:id="R21438ef7e4714dbd"/>
    <p:sldId xmlns:r="http://schemas.openxmlformats.org/officeDocument/2006/relationships" id="266" r:id="Ra6bdddd3d2694c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ff32d87f8d4dbc" /><Relationship Type="http://schemas.openxmlformats.org/officeDocument/2006/relationships/slideMaster" Target="/ppt/slideMasters/slideMaster1.xml" Id="R4f06c186475e4d4b" /><Relationship Type="http://schemas.openxmlformats.org/officeDocument/2006/relationships/notesMaster" Target="/ppt/notesMasters/notesMaster1.xml" Id="R7200f3e8493c4afe" /><Relationship Type="http://schemas.openxmlformats.org/officeDocument/2006/relationships/presProps" Target="/ppt/presProps.xml" Id="R94f5fc7230ab4d9a" /><Relationship Type="http://schemas.openxmlformats.org/officeDocument/2006/relationships/viewProps" Target="/ppt/viewProps.xml" Id="Re750ca8ef3c74193" /><Relationship Type="http://schemas.openxmlformats.org/officeDocument/2006/relationships/tableStyles" Target="/ppt/tableStyles.xml" Id="Rd21b2e74dcc54129" /><Relationship Type="http://schemas.openxmlformats.org/officeDocument/2006/relationships/slide" Target="/ppt/slides/slide1.xml" Id="R8d759442ea9b4878" /><Relationship Type="http://schemas.openxmlformats.org/officeDocument/2006/relationships/slide" Target="/ppt/slides/slide2.xml" Id="R81164fe5e15446a6" /><Relationship Type="http://schemas.openxmlformats.org/officeDocument/2006/relationships/slide" Target="/ppt/slides/slide3.xml" Id="Rf792acc2f8684519" /><Relationship Type="http://schemas.openxmlformats.org/officeDocument/2006/relationships/slide" Target="/ppt/slides/slide4.xml" Id="Rc46df5bdc2e34c09" /><Relationship Type="http://schemas.openxmlformats.org/officeDocument/2006/relationships/slide" Target="/ppt/slides/slide5.xml" Id="R41cc1afcfdf94372" /><Relationship Type="http://schemas.openxmlformats.org/officeDocument/2006/relationships/slide" Target="/ppt/slides/slide6.xml" Id="R0cdac589fbb648f4" /><Relationship Type="http://schemas.openxmlformats.org/officeDocument/2006/relationships/slide" Target="/ppt/slides/slide7.xml" Id="Rd11e5baeb0fa4060" /><Relationship Type="http://schemas.openxmlformats.org/officeDocument/2006/relationships/slide" Target="/ppt/slides/slide8.xml" Id="Rceb55c731ca741d7" /><Relationship Type="http://schemas.openxmlformats.org/officeDocument/2006/relationships/slide" Target="/ppt/slides/slide9.xml" Id="R69d86c53cd2a4d26" /><Relationship Type="http://schemas.openxmlformats.org/officeDocument/2006/relationships/slide" Target="/ppt/slides/slide10.xml" Id="R21438ef7e4714dbd" /><Relationship Type="http://schemas.openxmlformats.org/officeDocument/2006/relationships/slide" Target="/ppt/slides/slide11.xml" Id="Ra6bdddd3d2694c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b60cdeed7c40e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987ba512344abd" /><Relationship Type="http://schemas.openxmlformats.org/officeDocument/2006/relationships/notesMaster" Target="/ppt/notesMasters/notesMaster1.xml" Id="R2ddf7103657749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e261fa587b448a" /><Relationship Type="http://schemas.openxmlformats.org/officeDocument/2006/relationships/notesMaster" Target="/ppt/notesMasters/notesMaster1.xml" Id="R7ec3c9ca35f2432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32729265ae47e8" /><Relationship Type="http://schemas.openxmlformats.org/officeDocument/2006/relationships/notesMaster" Target="/ppt/notesMasters/notesMaster1.xml" Id="R8cc53fa1bdf644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bb7e0893f9544f0" /><Relationship Type="http://schemas.openxmlformats.org/officeDocument/2006/relationships/notesMaster" Target="/ppt/notesMasters/notesMaster1.xml" Id="Rf0c93c0c3a6c48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a238d0503f439e" /><Relationship Type="http://schemas.openxmlformats.org/officeDocument/2006/relationships/notesMaster" Target="/ppt/notesMasters/notesMaster1.xml" Id="R21ca4fc835564b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9a4609ce0045ca" /><Relationship Type="http://schemas.openxmlformats.org/officeDocument/2006/relationships/notesMaster" Target="/ppt/notesMasters/notesMaster1.xml" Id="Rfcffd440158142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e11f7068e948e9" /><Relationship Type="http://schemas.openxmlformats.org/officeDocument/2006/relationships/notesMaster" Target="/ppt/notesMasters/notesMaster1.xml" Id="Rf0fe152d731742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ebf3caceb24c4a" /><Relationship Type="http://schemas.openxmlformats.org/officeDocument/2006/relationships/notesMaster" Target="/ppt/notesMasters/notesMaster1.xml" Id="Ra601cb4efaa146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5ad2671f2940cb" /><Relationship Type="http://schemas.openxmlformats.org/officeDocument/2006/relationships/notesMaster" Target="/ppt/notesMasters/notesMaster1.xml" Id="R56570466719b414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d3557a1b4f6448e" /><Relationship Type="http://schemas.openxmlformats.org/officeDocument/2006/relationships/notesMaster" Target="/ppt/notesMasters/notesMaster1.xml" Id="Rf78f768bffa045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bb3b3b5c1f54c3e" /><Relationship Type="http://schemas.openxmlformats.org/officeDocument/2006/relationships/notesMaster" Target="/ppt/notesMasters/notesMaster1.xml" Id="Rae246c246b7744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Авторы: Анастасия Казакова, Степан Селезнев, Светлана Калошкина. Исследуем прогнозную связь ставки, курса и волатильности на российских данных.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Основной вопрос относится к предсказанию. Дополнительный вопрос касается модуля изменения официального курса вокруг дат изменения действующей ставки.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https://www.cbr.ru/hd_base/KeyRate/ , https://www.cbr.ru/scripts/XML_dynamic.asp , https://fred.stlouisfed.org/series/DCOILBRENTEU . Таблица T1_sample.csv. Даты действия ставки отличаются от дат объявления решений. Даты официального курса также имеют собственную конвенцию. Общее число полных месяцев: 155, в основной VAR после разностей и лагов 152. Месячное усреднение курса и нефти исключает их механическое приравнивание к значениям на конец месяца.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Спецификация и диагностика: T2_stationarity.csv, T3_lag_selection.csv, T3_diagnostics.txt, T4_granger.csv, T5b_garch_spec_selection.csv. При интерпретации учитываем исследовательский выбор нескольких спецификаций.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графика: output/figures/R1_three_series.png. Исходные данные Банка России и FRED. Официальный курс отражает действующую на дату котировку.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T7_robustness.csv, T7c_rolling_granger.csv и R4_rolling_granger.png. Выделение кризисных периодов является проверкой чувствительности. Индикаторы имеют смысл при конкретном построении регрессии. В основной модели p для прошлого курса в уравнении ставки равно 0,005. После контроля обоих эпизодов и следующих двух месяцев p для обратного направления равно 0,080. Высокие p-значения совместимы с недостаточной точностью.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T3c_irf_bootstrap.csv, T7b_irf_ordering.csv, R2_irf_rate_to_fx.png. Интервалы условны относительно модели и выбранной процедуры бутстрапа. Импульс задаётся в процентных пунктах ставки. Использован остаточный iid-бутстрап с фиксированной исходной нормировкой. Интервалы точечные. iid-бутстрап предполагает одинаковое распределение остатков. Возможная изменчивость дисперсии и выбросы ограничивают это допущение.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T5_garch.csv, T5b_garch_spec_selection.csv. Высокая персистентность и плохая диагностика на отдельном периоде ограничивают применение выбранной модели в этом периоде.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T6b_event_study_stratified.csv, T6c_before_after.csv, T8_outofsample_summary.csv, T8_outofsample_forecasts.csv. Событийный анализ описывает ассоциации вокруг вступления ставки в силу. Числа относятся к официальному курсу. RMSE в 2022: нулевой 0,1384, VAR со ставкой 0,1274. Остальные годы: 0,0342 и 0,0377. Ошибки прогнозов измерены в логарифмическом изменении курса. Все приведённые ошибки относятся к горизонту один месяц. Тест Clark-West использует всю непрерывную последовательность из 118 прогнозов и HAC с 4 лагами. p-значения односторонние, приближённые. База сравнения имеет значение: нулевой прогноз p=0,043, VAR без ставки p=0,126. Режимные RMSE описательные.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Итог относится к использованным данным, датам, периодам и моделям. Статистически слабый результат сохраняет содержательный смысл при корректной интерпретации.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Авторы: Анастасия Казакова, Степан Селезнев, Светлана Калошкина. Репозиторий: https://github.com/Wo1gmi/EDA_Final_proj . Замер включает весь расчёт на локально сохранённых исходных данных. Конфигурация ровно 8 CPU и 16 ГБ отдельно не испытывалась. Подробности доступны в output/run_manifest.json.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ffbbf5f576410a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9cbf980a9542a9" /><Relationship Type="http://schemas.openxmlformats.org/officeDocument/2006/relationships/slideLayout" Target="/ppt/slideLayouts/slideLayout1.xml" Id="R3db11c3a697441b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b11c3a697441be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2b64da31242fa" /><Relationship Type="http://schemas.openxmlformats.org/officeDocument/2006/relationships/notesSlide" Target="/ppt/notesSlides/notesSlide1.xml" Id="R1b2a1aca6d8d4d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b821ca8f6d4f8f" /><Relationship Type="http://schemas.openxmlformats.org/officeDocument/2006/relationships/notesSlide" Target="/ppt/notesSlides/notesSlide2.xml" Id="Rf79fd6ce24474a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ab8b8594b440a" /><Relationship Type="http://schemas.openxmlformats.org/officeDocument/2006/relationships/notesSlide" Target="/ppt/notesSlides/notesSlide3.xml" Id="R4480e06f40cc485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95574e2c54799" /><Relationship Type="http://schemas.openxmlformats.org/officeDocument/2006/relationships/notesSlide" Target="/ppt/notesSlides/notesSlide4.xml" Id="R523ce97a64f643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95a6a45a749ae" /><Relationship Type="http://schemas.openxmlformats.org/officeDocument/2006/relationships/image" Target="/ppt/media/image.png" Id="Rca9d9b69e2a04e31" /><Relationship Type="http://schemas.openxmlformats.org/officeDocument/2006/relationships/notesSlide" Target="/ppt/notesSlides/notesSlide5.xml" Id="Rd5bca4e23d744b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db2bfb8f04d36" /><Relationship Type="http://schemas.openxmlformats.org/officeDocument/2006/relationships/image" Target="/ppt/media/image2.png" Id="R1cf82abd4cf342c6" /><Relationship Type="http://schemas.openxmlformats.org/officeDocument/2006/relationships/notesSlide" Target="/ppt/notesSlides/notesSlide6.xml" Id="Re2d79278ad3e414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fa4630549d49ec" /><Relationship Type="http://schemas.openxmlformats.org/officeDocument/2006/relationships/image" Target="/ppt/media/image3.png" Id="R2fbc31ce42074af4" /><Relationship Type="http://schemas.openxmlformats.org/officeDocument/2006/relationships/notesSlide" Target="/ppt/notesSlides/notesSlide7.xml" Id="R278e23c017f1473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f23c9c1ed4f71" /><Relationship Type="http://schemas.openxmlformats.org/officeDocument/2006/relationships/notesSlide" Target="/ppt/notesSlides/notesSlide8.xml" Id="R051d03eb56ee47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a3a8c5419411f" /><Relationship Type="http://schemas.openxmlformats.org/officeDocument/2006/relationships/notesSlide" Target="/ppt/notesSlides/notesSlide9.xml" Id="Rae5571a315b545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55edee3fe54f49" /><Relationship Type="http://schemas.openxmlformats.org/officeDocument/2006/relationships/notesSlide" Target="/ppt/notesSlides/notesSlide10.xml" Id="R2791ac7b930a41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05a99f19349fb" /><Relationship Type="http://schemas.openxmlformats.org/officeDocument/2006/relationships/notesSlide" Target="/ppt/notesSlides/notesSlide11.xml" Id="R5cc95fd3150d48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9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E3C4A97-2C62-4D1C-90CE-AD50AB10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96012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  <a:defRPr sz="400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4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Ставка ЦБ, курс рубля</a:t>
            </a:r>
            <a:endParaRPr sz="4000"/>
          </a:p>
          <a:p xmlns:a="http://schemas.openxmlformats.org/drawingml/2006/main">
            <a:pPr marL="0" indent="0">
              <a:lnSpc>
                <a:spcPct val="105000"/>
              </a:lnSpc>
              <a:buNone/>
              <a:defRPr sz="400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4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и его волатильность</a:t>
            </a:r>
            <a:endParaRPr sz="40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2D3BCF3-81AC-4915-9CF0-7B64332CF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810000"/>
            <a:ext cx="9601200" cy="704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650" b="0" i="0">
                <a:solidFill>
                  <a:srgbClr val="AEB9CC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AEB9CC"/>
                </a:solidFill>
                <a:latin typeface="Calibri"/>
                <a:ea typeface="Calibri"/>
                <a:cs typeface="Calibri"/>
              </a:rPr>
              <a:t>Финальный проект по анализу экономических данных</a:t>
            </a:r>
            <a:endParaRPr sz="1600"/>
          </a:p>
          <a:p xmlns:a="http://schemas.openxmlformats.org/drawingml/2006/main">
            <a:pPr marL="0" indent="0">
              <a:buNone/>
              <a:defRPr sz="1650" b="0" i="0">
                <a:solidFill>
                  <a:srgbClr val="AEB9CC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AEB9CC"/>
                </a:solidFill>
                <a:latin typeface="Calibri"/>
                <a:ea typeface="Calibri"/>
                <a:cs typeface="Calibri"/>
              </a:rPr>
              <a:t>2026</a:t>
            </a:r>
            <a:endParaRPr sz="16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2AF0FA9-7D5E-4689-9691-3A7842FF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86350"/>
            <a:ext cx="1047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500" b="0" i="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Анастасия Казакова</a:t>
            </a:r>
            <a:endParaRPr sz="1200"/>
          </a:p>
          <a:p xmlns:a="http://schemas.openxmlformats.org/drawingml/2006/main">
            <a:pPr marL="0" indent="0">
              <a:buNone/>
              <a:defRPr sz="1500" b="0" i="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Степан Селезнев</a:t>
            </a:r>
            <a:endParaRPr sz="1200"/>
          </a:p>
          <a:p xmlns:a="http://schemas.openxmlformats.org/drawingml/2006/main">
            <a:pPr marL="0" indent="0">
              <a:buNone/>
              <a:defRPr sz="1500" b="0" i="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Светлана Калошкина</a:t>
            </a:r>
            <a:endParaRPr sz="12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3E4E884-CB5D-491C-BD0D-2B4788BAA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2293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275" b="0" i="0">
                <a:solidFill>
                  <a:srgbClr val="AEB9CC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AEB9CC"/>
                </a:solidFill>
                <a:latin typeface="Calibri"/>
                <a:ea typeface="Calibri"/>
                <a:cs typeface="Calibri"/>
              </a:rPr>
              <a:t>Данные Банка России и FRED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2646142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5A4B7A-D0A4-4BAC-A2BF-8FD72CED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Исследовательский вопрос</a:t>
            </a:r>
            <a:endParaRPr sz="27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7FB354F-F363-4E02-918C-B65712FD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0"/>
            <a:ext cx="1078992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200" b="0" i="1">
                <a:solidFill>
                  <a:srgbClr val="13294B"/>
                </a:solidFill>
                <a:latin typeface="Cambria"/>
                <a:ea typeface="Cambria"/>
                <a:cs typeface="Cambria"/>
              </a:defRPr>
            </a:pPr>
            <a:r>
              <a:rPr sz="2200" b="0" i="1">
                <a:solidFill>
                  <a:srgbClr val="13294B"/>
                </a:solidFill>
                <a:latin typeface="Cambria"/>
                <a:ea typeface="Cambria"/>
                <a:cs typeface="Cambria"/>
              </a:rPr>
              <a:t>Помогают ли прошлые изменения ключевой ставки</a:t>
            </a:r>
            <a:endParaRPr sz="2200"/>
          </a:p>
          <a:p xmlns:a="http://schemas.openxmlformats.org/drawingml/2006/main">
            <a:pPr marL="0" indent="0">
              <a:buNone/>
              <a:defRPr sz="2200" b="0" i="1">
                <a:solidFill>
                  <a:srgbClr val="13294B"/>
                </a:solidFill>
                <a:latin typeface="Cambria"/>
                <a:ea typeface="Cambria"/>
                <a:cs typeface="Cambria"/>
              </a:defRPr>
            </a:pPr>
            <a:r>
              <a:rPr sz="2200" b="0" i="1">
                <a:solidFill>
                  <a:srgbClr val="13294B"/>
                </a:solidFill>
                <a:latin typeface="Cambria"/>
                <a:ea typeface="Cambria"/>
                <a:cs typeface="Cambria"/>
              </a:rPr>
              <a:t>прогнозировать изменения курса рубля?</a:t>
            </a:r>
            <a:endParaRPr sz="22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E671D36B-2D2D-4A60-B29B-384ECEEC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00375"/>
            <a:ext cx="6949440" cy="2971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Как меняется волатильность курса вокруг дат вступления новой ставки в силу?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Курс определяет стоимость валюты для импортёров и владельцев валютных сбережений.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Исследуем прогнозную связь при учёте цены нефти Brent. Причинная трактовка требует отдельного дизайна.</a:t>
            </a:r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F84F309-12A2-435C-BF63-95BED203A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017520"/>
            <a:ext cx="3474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000" b="1" i="0">
                <a:solidFill>
                  <a:srgbClr val="13294B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4,25-21%</a:t>
            </a:r>
            <a:endParaRPr sz="3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488E51E-7797-4FB9-BDB7-AC6786A5F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3657600"/>
            <a:ext cx="3474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диапазон ключевой ставки в исходных данных</a:t>
            </a:r>
            <a:endParaRPr sz="11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E506211-33E1-4E8A-8BFD-57E42B59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4572000"/>
            <a:ext cx="3474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3000" b="1" i="0">
                <a:solidFill>
                  <a:srgbClr val="13294B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65</a:t>
            </a:r>
            <a:endParaRPr sz="3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28A380B1-0A93-4D68-AC54-26CAEC00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5212080"/>
            <a:ext cx="3474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00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200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изменений уровня ставки</a:t>
            </a:r>
            <a:endParaRPr sz="11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55D375D-F4A2-4F65-B115-658125A3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2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744350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7D6D036-8297-426B-B7B9-47327D38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Данные и календарь наблюдений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F00D917-9FC3-4613-B21A-663B738E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0"/>
            <a:ext cx="3383280" cy="21031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3F7F549-0D4C-4A94-A321-6D6A8887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536192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Ключевая ставка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2CDF197-5149-418C-9618-1892384F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56816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Банк России, ключевая ставка</a:t>
            </a:r>
            <a:endParaRPr sz="1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DCCC4E5E-4EBE-426A-A25F-554B158BA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423160"/>
            <a:ext cx="2926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599" b="1" i="0">
                <a:solidFill>
                  <a:srgbClr val="5B7FA6"/>
                </a:solidFill>
                <a:latin typeface="Calibri"/>
                <a:ea typeface="Calibri"/>
                <a:cs typeface="Calibri"/>
              </a:defRPr>
            </a:pPr>
            <a:r>
              <a:rPr sz="2599" b="1" i="0">
                <a:solidFill>
                  <a:srgbClr val="5B7FA6"/>
                </a:solidFill>
                <a:latin typeface="Calibri"/>
                <a:ea typeface="Calibri"/>
                <a:cs typeface="Calibri"/>
              </a:rPr>
              <a:t>3264</a:t>
            </a:r>
            <a:endParaRPr sz="26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15349F1-3895-45AD-9378-05571CD5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97180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17.09.2013-23.09.2026</a:t>
            </a:r>
            <a:endParaRPr sz="9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17201CE-25ED-49EB-BFDE-5EB0751F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1371600"/>
            <a:ext cx="3383280" cy="21031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41231A4-C59E-426D-A24E-8BAA00E94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536192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Курс USD/RUB</a:t>
            </a:r>
            <a:endParaRPr sz="15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F688E64-E578-42A0-B3C2-FD627F0C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56816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Банк России, официальный курс</a:t>
            </a:r>
            <a:endParaRPr sz="10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F107EA3E-CBD5-4E4B-A34E-CB0D3EE1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423160"/>
            <a:ext cx="2926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599" b="1" i="0">
                <a:solidFill>
                  <a:srgbClr val="5B7FA6"/>
                </a:solidFill>
                <a:latin typeface="Calibri"/>
                <a:ea typeface="Calibri"/>
                <a:cs typeface="Calibri"/>
              </a:defRPr>
            </a:pPr>
            <a:r>
              <a:rPr sz="2599" b="1" i="0">
                <a:solidFill>
                  <a:srgbClr val="5B7FA6"/>
                </a:solidFill>
                <a:latin typeface="Calibri"/>
                <a:ea typeface="Calibri"/>
                <a:cs typeface="Calibri"/>
              </a:rPr>
              <a:t>3385</a:t>
            </a:r>
            <a:endParaRPr sz="26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8485E9FD-6642-4AFD-A262-4D8E81487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97180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10.01.2013-23.09.2026</a:t>
            </a:r>
            <a:endParaRPr sz="9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AF1C5A53-A0F0-438F-973C-141DFF62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371600"/>
            <a:ext cx="3383280" cy="210312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8ADFD24-A818-4A41-AE5A-0984C8B8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536192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Нефть Brent</a:t>
            </a:r>
            <a:endParaRPr sz="15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45D06CB-57CE-4C18-8702-616F6375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56816"/>
            <a:ext cx="29260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FRED, DCOILBRENTEU</a:t>
            </a:r>
            <a:endParaRPr sz="10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18DA2C2-B245-482C-9A37-98F97966D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423160"/>
            <a:ext cx="29260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599" b="1" i="0">
                <a:solidFill>
                  <a:srgbClr val="5B7FA6"/>
                </a:solidFill>
                <a:latin typeface="Calibri"/>
                <a:ea typeface="Calibri"/>
                <a:cs typeface="Calibri"/>
              </a:defRPr>
            </a:pPr>
            <a:r>
              <a:rPr sz="2599" b="1" i="0">
                <a:solidFill>
                  <a:srgbClr val="5B7FA6"/>
                </a:solidFill>
                <a:latin typeface="Calibri"/>
                <a:ea typeface="Calibri"/>
                <a:cs typeface="Calibri"/>
              </a:rPr>
              <a:t>3481</a:t>
            </a:r>
            <a:endParaRPr sz="2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076281E8-3A01-47B5-82C6-499885F3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971800"/>
            <a:ext cx="29260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125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02.01.2013-22.09.2026</a:t>
            </a:r>
            <a:endParaRPr sz="9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1DCF9C9-26E6-41CF-BF29-55E9FCE9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62375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Месячная модель: 155 полных месяцев с 10.2013 по 08.2026. После разностей и двух лагов остаётся 152 наблюдения.</a:t>
            </a:r>
            <a:endParaRPr sz="13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9965C70F-D66F-4C50-9B68-CC7DB4F0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19625"/>
            <a:ext cx="10972800" cy="8191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События: 65 дат изменения действующей ставки. Опорная дата курса: следующий календарный день. Это приближение по официальным датам действия.</a:t>
            </a:r>
            <a:endParaRPr sz="12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D408A5E-FEE9-42D2-9F61-362BBB49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57850"/>
            <a:ext cx="10972800" cy="6381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В месячной модели ставка берётся на конец месяца, курс и Brent усредняются. С июня 2024 года меняется методика официального курса.</a:t>
            </a:r>
            <a:endParaRPr sz="12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5E5EBBB-86F4-4D50-955C-41044FFE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3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8946922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D78EB0D-B67B-4331-9FC9-89724EC92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Методы и проверка устойчивости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CF60E92-69AE-4748-A838-59D7F7A2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17320"/>
            <a:ext cx="5394960" cy="393192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71BE775-0FA5-45EE-8D41-C6D83DC2A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37360"/>
            <a:ext cx="228600" cy="228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3294B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2207A77-54B4-4240-89E5-7EC777E6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645920"/>
            <a:ext cx="4297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Месячные данные</a:t>
            </a:r>
            <a:endParaRPr sz="16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B69E38DC-8822-4603-B8EF-29F893D6F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4663440" cy="2834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Основная VAR(2) в изменениях ставки и логарифмов курса и Brent.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BIC на разностях поддерживает два лага. Проверяем также один и три лага.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Тест Грейнджера, отклики и чувствительность к кризисным эпизодам.</a:t>
            </a:r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D22A67C5-4BEF-4E46-BED1-65CD477A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394960" cy="393192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D077CEA-DC97-4A4A-9E89-9C01FE439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737360"/>
            <a:ext cx="228600" cy="2286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7FA6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1EAF1B6-D5B6-495C-97AF-D625A74D9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1645920"/>
            <a:ext cx="4297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5B7FA6"/>
                </a:solidFill>
                <a:latin typeface="Calibri"/>
                <a:ea typeface="Calibri"/>
                <a:cs typeface="Calibri"/>
              </a:rPr>
              <a:t>Дневные данные</a:t>
            </a:r>
            <a:endParaRPr sz="16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F27B197-0B3C-4927-B06F-0C6F323B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86000"/>
            <a:ext cx="4663440" cy="2834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GJR-GARCH с AR(1) и t-распределением для волатильности.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Сравнение четырёх спецификаций по BIC и диагностика остатков.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Событийные окна с плацебо внутри каждого года.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22612C5-E71F-4662-B037-4174AD71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86400"/>
            <a:ext cx="10972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Коинтеграция чувствительна к лагу. VAR в разностях используем как рабочую модель. p-значения и интервалы трактуем с учётом диагностики.</a:t>
            </a:r>
            <a:endParaRPr sz="12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CC7D07D-902F-4F43-8979-379F92AC7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4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169404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EE623CC-3871-41B0-8ABF-50319F74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Ставка, официальный курс и нефть во времени</a:t>
            </a:r>
            <a:endParaRPr sz="2700"/>
          </a:p>
        </p:txBody>
      </p:sp>
      <p:pic>
        <p:nvPicPr>
          <p:cNvPr id="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9d9b69e2a04e31"/>
          <a:stretch xmlns:a="http://schemas.openxmlformats.org/drawingml/2006/main"/>
        </p:blipFill>
        <p:spPr>
          <a:xfrm xmlns:a="http://schemas.openxmlformats.org/drawingml/2006/main">
            <a:off x="3163824" y="1281176"/>
            <a:ext cx="5861304" cy="5210048"/>
          </a:xfrm>
          <a:prstGeom xmlns:a="http://schemas.openxmlformats.org/drawingml/2006/main" prst="rect">
            <a:avLst/>
          </a:prstGeom>
        </p:spPr>
      </p:pic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BCEF1046-8DA0-47D5-9773-B65A28BD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5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7724074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329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ECA5FF7-5D59-40E6-A6DF-2307E5AB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5760"/>
            <a:ext cx="3108960" cy="36576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C9A227"/>
          </a:solidFill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438E8B5-CE1B-41CB-AAA7-941F1159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5760"/>
            <a:ext cx="3108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275" b="1" i="0">
                <a:solidFill>
                  <a:srgbClr val="13294B"/>
                </a:solidFill>
                <a:latin typeface="Calibri"/>
                <a:ea typeface="Calibri"/>
                <a:cs typeface="Calibri"/>
              </a:defRPr>
            </a:pPr>
            <a:r>
              <a:rPr sz="1275" b="1" i="0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УСТОЙЧИВОСТЬ РЕЗУЛЬТАТА</a:t>
            </a:r>
            <a:endParaRPr sz="13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585D7DA3-A92E-4643-9031-AB517DAE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868680"/>
            <a:ext cx="109728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55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5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Связь чувствительна к кризисным эпизодам</a:t>
            </a:r>
            <a:endParaRPr sz="2400"/>
          </a:p>
        </p:txBody>
      </p:sp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82abd4cf342c6"/>
          <a:stretch xmlns:a="http://schemas.openxmlformats.org/drawingml/2006/main"/>
        </p:blipFill>
        <p:spPr>
          <a:xfrm xmlns:a="http://schemas.openxmlformats.org/drawingml/2006/main">
            <a:off x="457200" y="1600200"/>
            <a:ext cx="6949440" cy="3474720"/>
          </a:xfrm>
          <a:prstGeom xmlns:a="http://schemas.openxmlformats.org/drawingml/2006/main" prst="rect">
            <a:avLst/>
          </a:prstGeom>
        </p:spPr>
      </p:pic>
      <p:graphicFrame>
        <p:nvGraphicFramePr>
          <p:cNvPr id="17" name="Table 0"/>
          <p:cNvGraphicFramePr/>
          <p:nvPr/>
        </p:nvGraphicFramePr>
        <p:xfrm>
          <a:off xmlns:a="http://schemas.openxmlformats.org/drawingml/2006/main" x="7589520" y="1600200"/>
          <a:ext xmlns:a="http://schemas.openxmlformats.org/drawingml/2006/main" cx="4114800" cy="23774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43200"/>
                <a:gridCol w="1371600"/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Индикаторы кризисных месяцев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p теста ставки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13294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Без индикаторов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4,3 × 10⁻²⁰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Фев-апр 2022 + 2 месяца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0,174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Ноя 2014-фев 2015 + 2 месяца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3,3 × 10⁻²²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Оба эпизода + 2 месяца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0,778</a:t>
                      </a:r>
                      <a:endParaRPr sz="11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78592FCD-BD4B-4E8F-9330-A20E09C9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0" y="4160520"/>
            <a:ext cx="411480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0" i="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Индикаторы выделяют кризисные месяцы и следующие два месяца, на которые распространяются лаги. Рост p-значения показывает чувствительность теста.</a:t>
            </a:r>
            <a:endParaRPr sz="1150"/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49A95B0-E075-43F9-9AA3-BD0288CF4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088136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0" i="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В 96 скользящих окнах доля p&lt;0,05 меняется с 60,4% до 2,1% при контроле кризисных наблюдений и лагов. Кризисная неоднородность ограничивает модельные тесты.</a:t>
            </a:r>
            <a:endParaRPr sz="1150"/>
          </a:p>
        </p:txBody>
      </p:sp>
      <p:sp>
        <p:nvSpPr>
          <p:cNvPr id="10" name="Text 5">
            <a:extLst xmlns:a="http://schemas.openxmlformats.org/drawingml/2006/main">
              <a:ext uri="{FF2B5EF4-FFF2-40B4-BE49-F238E27FC236}">
                <a16:creationId xmlns:a16="http://schemas.microsoft.com/office/drawing/2014/main" id="{198A1236-DDCA-4DD1-A881-5AE324F42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8592A8"/>
                </a:solidFill>
                <a:latin typeface="Calibri"/>
                <a:ea typeface="Calibri"/>
                <a:cs typeface="Calibri"/>
              </a:rPr>
              <a:t>6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085890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A128A6-0CB0-4F80-BE00-49CCB2AEF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Отклик курса на модельный импульс ставки</a:t>
            </a:r>
            <a:endParaRPr sz="2700"/>
          </a:p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bc31ce42074af4"/>
          <a:stretch xmlns:a="http://schemas.openxmlformats.org/drawingml/2006/main"/>
        </p:blipFill>
        <p:spPr>
          <a:xfrm xmlns:a="http://schemas.openxmlformats.org/drawingml/2006/main">
            <a:off x="5476875" y="1309688"/>
            <a:ext cx="6000750" cy="5000625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4BE99372-B448-40C7-8256-95C234C8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90675"/>
            <a:ext cx="4572000" cy="43338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Импульс ставки: 1 процентный пункт.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Пик отклика месячного изменения курса: около 2,3 п.п. на 1-м месяце.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С 3-го месяца точечный 95% интервал накопленного отклика включает ноль.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425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500 реплик бутстрапа. Отклик условен относительно модели и порядка переменных.</a:t>
            </a:r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201D84A8-A01B-4581-8C53-61DC8790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7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2587265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8515BB-2D43-4D6F-9656-218813A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Модель волатильности и её ограничения</a:t>
            </a:r>
            <a:endParaRPr sz="2700"/>
          </a:p>
        </p:txBody>
      </p:sp>
      <p:graphicFrame>
        <p:nvGraphicFramePr>
          <p:cNvPr id="13" name="Table 0"/>
          <p:cNvGraphicFramePr/>
          <p:nvPr/>
        </p:nvGraphicFramePr>
        <p:xfrm>
          <a:off xmlns:a="http://schemas.openxmlformats.org/drawingml/2006/main" x="548640" y="1371600"/>
          <a:ext xmlns:a="http://schemas.openxmlformats.org/drawingml/2006/main" cx="5486400" cy="1828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9184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Спецификация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AIC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BIC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  <a:solidFill>
                      <a:srgbClr val="13294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t, AR(1), GJR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7973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8016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t, AR(1)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7998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8034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t, постоянное среднее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8031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8061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Normal, постоянное среднее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8307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200" b="0">
                          <a:solidFill>
                            <a:srgbClr val="1C2733"/>
                          </a:solidFill>
                          <a:latin typeface="Calibri"/>
                          <a:ea typeface="Calibri"/>
                          <a:cs typeface="Calibri"/>
                        </a:rPr>
                        <a:t>8331</a:t>
                      </a:r>
                      <a:endParaRPr sz="12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1440" marR="91440" marT="45720" marB="45720" anchor="ctr">
                    <a:lnL w="12700" cmpd="sng">
                      <a:solidFill>
                        <a:srgbClr val="E3E7ED"/>
                      </a:solidFill>
                      <a:prstDash val="solid"/>
                    </a:lnL>
                    <a:lnR w="12700" cmpd="sng">
                      <a:solidFill>
                        <a:srgbClr val="E3E7ED"/>
                      </a:solidFill>
                      <a:prstDash val="solid"/>
                    </a:lnR>
                    <a:lnT w="12700" cmpd="sng">
                      <a:solidFill>
                        <a:srgbClr val="E3E7ED"/>
                      </a:solidFill>
                      <a:prstDash val="solid"/>
                    </a:lnT>
                    <a:lnB w="12700" cmpd="sng">
                      <a:solidFill>
                        <a:srgbClr val="E3E7ED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4140034F-3B17-469E-87D7-431F81ED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71875"/>
            <a:ext cx="5486400" cy="1762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Общая выборка: 3213 наблюдений. Ljung-Box, 12 лагов: p=0,21 для остатков и 0,49 для их квадратов.</a:t>
            </a:r>
            <a:endParaRPr sz="1150"/>
          </a:p>
          <a:p xmlns:a="http://schemas.openxmlformats.org/drawingml/2006/main">
            <a:pPr marL="0" indent="0">
              <a:buNone/>
            </a:pPr>
            <a:r>
              <a:rPr sz="1150" i="1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/>
            </a:r>
            <a:endParaRPr sz="1150"/>
          </a:p>
          <a:p xmlns:a="http://schemas.openxmlformats.org/drawingml/2006/main">
            <a:pPr marL="0" indent="0">
              <a:buNone/>
              <a:def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В периоде с 28.02.2022 квадраты остатков сохраняют зависимость: p=6,1 × 10⁻⁸.</a:t>
            </a:r>
            <a:endParaRPr sz="115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FF094B-7454-4C6A-BA80-F6448719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1371600"/>
            <a:ext cx="4937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 i="0">
                <a:solidFill>
                  <a:srgbClr val="13294B"/>
                </a:solidFill>
                <a:latin typeface="Calibri"/>
                <a:ea typeface="Calibri"/>
                <a:cs typeface="Calibri"/>
              </a:defRPr>
            </a:pPr>
            <a:r>
              <a:rPr sz="2700" b="1" i="0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0,987 и 1,000</a:t>
            </a:r>
            <a:endParaRPr sz="2600"/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85FC519-B20C-4393-BD94-F80ECCF8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11680"/>
            <a:ext cx="4937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75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персистентность до и после 28.02.2022</a:t>
            </a:r>
            <a:endParaRPr sz="11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95B3089-90D9-47C1-B694-D8C43099D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743200"/>
            <a:ext cx="49377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550" b="1" i="0">
                <a:solidFill>
                  <a:srgbClr val="5B7FA6"/>
                </a:solidFill>
                <a:latin typeface="Calibri"/>
                <a:ea typeface="Calibri"/>
                <a:cs typeface="Calibri"/>
              </a:defRPr>
            </a:pPr>
            <a:r>
              <a:rPr sz="2550" b="1" i="0">
                <a:solidFill>
                  <a:srgbClr val="5B7FA6"/>
                </a:solidFill>
                <a:latin typeface="Calibri"/>
                <a:ea typeface="Calibri"/>
                <a:cs typeface="Calibri"/>
              </a:rPr>
              <a:t>1,09 и н/д</a:t>
            </a:r>
            <a:endParaRPr sz="24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006FAD63-6DE0-40C9-9DF6-C467E1EE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383280"/>
            <a:ext cx="4937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1275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безусловная дисперсия до и после, %²</a:t>
            </a:r>
            <a:endParaRPr sz="1100"/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652CF6-C1C7-4077-9BE5-C8A9D0A3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160520"/>
            <a:ext cx="4937760" cy="1280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В периоде с 28.02.2022 оценка персистентности достигает границы стационарности. Безусловная дисперсия в этой спецификации не определена.</a:t>
            </a:r>
            <a:endParaRPr sz="11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A661451-64BB-471F-98CA-F013C1885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8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51619073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646E467-492F-48CA-94E8-5872FD57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Волатильность вокруг событий и точность прогноза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2DCBB84-227D-499B-93A0-CDCB2D0E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71600"/>
            <a:ext cx="5486400" cy="429768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F0A0C1E-91C9-4B54-AC04-B9F7A5DB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62100"/>
            <a:ext cx="493776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500" b="1" i="0">
                <a:solidFill>
                  <a:srgbClr val="13294B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Даты изменения действующей ставки</a:t>
            </a:r>
            <a:endParaRPr sz="15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CF28970-5291-4448-9168-EC69C7A1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38375"/>
            <a:ext cx="4937760" cy="3286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65 событий: превышение обычного модуля изменения курса на 0,125 п.п. Monte Carlo p=0,004.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Без 2014, 2015 и 2022: 46 событий, превышение около 0,0001 п.п. p=0,416.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Окно 11 наблюдений, база 30. Плацебо внутри года, 1000 повторов.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E09A4839-CC6A-44A6-AA69-B0F0C48B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71600"/>
            <a:ext cx="5394960" cy="429768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1329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EEAB6FA2-B5E5-4E8A-9794-D93A4D11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562100"/>
            <a:ext cx="4846320" cy="5905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500" b="1" i="0">
                <a:solidFill>
                  <a:srgbClr val="C9A227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C9A227"/>
                </a:solidFill>
                <a:latin typeface="Calibri"/>
                <a:ea typeface="Calibri"/>
                <a:cs typeface="Calibri"/>
              </a:rPr>
              <a:t>Прогноз на следующий месяц</a:t>
            </a:r>
            <a:endParaRPr sz="15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DDCD8BA-C7A4-4B36-879D-46CD64B4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238375"/>
            <a:ext cx="4846320" cy="3286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118 прогнозов. RMSE VAR: 0,0541, нулевого: 0,0548. MAE: 0,0344 и 0,0327 соответственно.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У VAR ниже RMSE в 2022 (n=12) и выше в остальные годы (n=106).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Clark-West, приближённо: p=0,043 против нулевого прогноза и 0,126 при добавлении ставки к VAR курса и Brent.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BE555EA-67EC-45FC-82C6-7E387B20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9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4571814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1393E0A-4592-4C5A-9125-F0C66759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110642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2700" b="1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Ответ на вопрос и ограничения</a:t>
            </a:r>
            <a:endParaRPr sz="2700"/>
          </a:p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ED4DDB3-B31F-440A-B53F-7DD67AEC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0"/>
            <a:ext cx="5212080" cy="429768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F3F5F8"/>
          </a:solidFill>
        </p:spPr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1394AD9F-ED53-4D84-8EEF-82239904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0020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3294B"/>
                </a:solidFill>
                <a:latin typeface="Calibri"/>
                <a:ea typeface="Calibri"/>
                <a:cs typeface="Calibri"/>
              </a:rPr>
              <a:t>Ответ</a:t>
            </a:r>
            <a:endParaRPr sz="16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D162703-7A30-4033-AB5B-E324D224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66950"/>
            <a:ext cx="4663440" cy="3286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Прогнозная связь ставки и курса чувствительна к кризисным эпизодам и спецификации.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VAR со ставкой немного снижает RMSE полной выборки. По MAE нулевой прогноз точнее.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Добавочная польза ставки по сравнению с VAR курса и Brent остаётся неопределённой.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defRPr>
            </a:pPr>
            <a:r>
              <a:rPr sz="1388" b="0" i="0">
                <a:solidFill>
                  <a:srgbClr val="1C2733"/>
                </a:solidFill>
                <a:latin typeface="Calibri"/>
                <a:ea typeface="Calibri"/>
                <a:cs typeface="Calibri"/>
              </a:rPr>
              <a:t>Событийный результат зависит от включения кризисных лет.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346F4CC-228A-46C4-9414-8DA81F8C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371600"/>
            <a:ext cx="5394960" cy="4297680"/>
          </a:xfrm>
          <a:prstGeom xmlns:a="http://schemas.openxmlformats.org/drawingml/2006/main" prst="roundRect">
            <a:avLst>
              <a:gd name="adj" fmla="val 1702"/>
            </a:avLst>
          </a:prstGeom>
          <a:solidFill xmlns:a="http://schemas.openxmlformats.org/drawingml/2006/main">
            <a:srgbClr val="13294B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CB79716-B8A3-47B2-9E7C-85BF4D14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600200"/>
            <a:ext cx="4846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C9A227"/>
                </a:solidFill>
                <a:latin typeface="Calibri"/>
                <a:ea typeface="Calibri"/>
                <a:cs typeface="Calibri"/>
              </a:rPr>
              <a:t>Ограничения</a:t>
            </a:r>
            <a:endParaRPr sz="16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A81A77-CD62-46E3-828B-08A2AF2D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266950"/>
            <a:ext cx="4846320" cy="32861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5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Ставка реагирует на экономику. Инфляция и ожидания остаются за пределами модели.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5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Малые кризисные выборки и многочисленные проверки ограничивают уверенность выводов.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5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Кризисная неоднородность ограничивает модельные интервалы и тесты.</a:t>
            </a:r>
          </a:p>
          <a:p xmlns:a="http://schemas.openxmlformats.org/drawingml/2006/main">
            <a:pPr marL="177800" indent="-101600">
              <a:spcAft>
                <a:spcPts val="1200"/>
              </a:spcAft>
              <a:buChar char="•"/>
              <a:defRPr sz="1350" b="0" i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Используем даты действия ставки и официальный курс со сменой методики в 2024 году.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AD52C93-BEF5-493D-A6B0-7D8FCE66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6B7688"/>
                </a:solidFill>
                <a:latin typeface="Calibri"/>
                <a:ea typeface="Calibri"/>
                <a:cs typeface="Calibri"/>
              </a:rPr>
              <a:t>10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377827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3294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33613F7-1042-494C-8C70-1DB68C16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91440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3600" b="1" i="0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36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Спасибо за внимание</a:t>
            </a:r>
            <a:endParaRPr sz="36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191F03F-EDF9-4EAC-A453-B113717C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194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575" b="0" i="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Анастасия Казакова, Степан Селезнев, Светлана Калошкина</a:t>
            </a:r>
            <a:endParaRPr sz="15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0A4AA40F-7453-49AA-B84C-E45454B57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86225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>
              <a:buNone/>
              <a:defRPr sz="1575" b="0" i="0">
                <a:solidFill>
                  <a:srgbClr val="AEB9CC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AEB9CC"/>
                </a:solidFill>
                <a:latin typeface="Calibri"/>
                <a:ea typeface="Calibri"/>
                <a:cs typeface="Calibri"/>
              </a:rPr>
              <a:t>Код, данные и инструкция: README.md.</a:t>
            </a:r>
            <a:endParaRPr sz="1300"/>
          </a:p>
          <a:p xmlns:a="http://schemas.openxmlformats.org/drawingml/2006/main">
            <a:pPr marL="0" indent="0">
              <a:buNone/>
              <a:defRPr sz="1575" b="0" i="0">
                <a:solidFill>
                  <a:srgbClr val="AEB9CC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AEB9CC"/>
                </a:solidFill>
                <a:latin typeface="Calibri"/>
                <a:ea typeface="Calibri"/>
                <a:cs typeface="Calibri"/>
              </a:rPr>
              <a:t>Полный расчёт: менее минуты в тестовом окружении.</a:t>
            </a:r>
            <a:endParaRPr sz="1300"/>
          </a:p>
          <a:p xmlns:a="http://schemas.openxmlformats.org/drawingml/2006/main">
            <a:pPr marL="0" indent="0">
              <a:buNone/>
              <a:defRPr sz="1575" b="0" i="0">
                <a:solidFill>
                  <a:srgbClr val="AEB9CC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AEB9CC"/>
                </a:solidFill>
                <a:latin typeface="Calibri"/>
                <a:ea typeface="Calibri"/>
                <a:cs typeface="Calibri"/>
              </a:rPr>
              <a:t>Тестовый Mac: 11 логических ядер, лимит численных потоков 8.</a:t>
            </a:r>
            <a:endParaRPr sz="1300"/>
          </a:p>
        </p:txBody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9C8DC3F-DA10-4217-8630-320BAD4D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644652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000">
                <a:solidFill>
                  <a:srgbClr val="8592A8"/>
                </a:solidFill>
                <a:latin typeface="Calibri"/>
                <a:ea typeface="Calibri"/>
                <a:cs typeface="Calibri"/>
              </a:rPr>
              <a:t>11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33094888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Анастасия Казакова, Степан Селезнев, Светлана Калошкина</dc:creator>
  <lastModifiedBy>Анастасия Казакова, Степан Селезнев, Светлана Калошкина</lastModifiedBy>
  <dc:title>Ставка ЦБ, курс рубля и его волатильность</dc:title>
  <dcterms:created xsi:type="dcterms:W3CDTF">2026-09-24T20:43:11.0350000Z</dcterms:created>
  <dcterms:modified xsi:type="dcterms:W3CDTF">2026-09-24T20:43:11.0350000Z</dcterms:modified>
</coreProperties>
</file>